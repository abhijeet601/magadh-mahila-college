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9" r:id="rId2"/>
    <p:sldId id="270" r:id="rId3"/>
    <p:sldId id="271" r:id="rId4"/>
    <p:sldId id="275" r:id="rId5"/>
    <p:sldId id="272" r:id="rId6"/>
    <p:sldId id="274" r:id="rId7"/>
    <p:sldId id="257" r:id="rId8"/>
    <p:sldId id="264" r:id="rId9"/>
    <p:sldId id="259" r:id="rId10"/>
    <p:sldId id="276" r:id="rId11"/>
    <p:sldId id="277" r:id="rId12"/>
    <p:sldId id="267" r:id="rId13"/>
    <p:sldId id="278" r:id="rId14"/>
    <p:sldId id="279" r:id="rId15"/>
    <p:sldId id="266" r:id="rId16"/>
    <p:sldId id="280" r:id="rId17"/>
    <p:sldId id="281" r:id="rId18"/>
    <p:sldId id="268" r:id="rId19"/>
    <p:sldId id="282" r:id="rId20"/>
    <p:sldId id="28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4/15/2020</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4/15/2020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4/15/2020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4/15/2020</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dr.namitakumari@gmail.com" TargetMode="Externa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5638800"/>
          </a:xfrm>
        </p:spPr>
        <p:txBody>
          <a:bodyPr>
            <a:normAutofit fontScale="90000"/>
          </a:bodyPr>
          <a:lstStyle/>
          <a:p>
            <a:r>
              <a:rPr lang="en-US" dirty="0" smtClean="0"/>
              <a:t>DR.NAMITA KUMARI</a:t>
            </a:r>
            <a:br>
              <a:rPr lang="en-US" dirty="0" smtClean="0"/>
            </a:br>
            <a:r>
              <a:rPr lang="en-US" dirty="0" smtClean="0"/>
              <a:t>Associate Professor</a:t>
            </a:r>
            <a:br>
              <a:rPr lang="en-US" dirty="0" smtClean="0"/>
            </a:br>
            <a:r>
              <a:rPr lang="en-US" dirty="0" smtClean="0"/>
              <a:t>Department of Botany</a:t>
            </a:r>
            <a:br>
              <a:rPr lang="en-US" dirty="0" smtClean="0"/>
            </a:br>
            <a:r>
              <a:rPr lang="en-US" dirty="0" err="1" smtClean="0"/>
              <a:t>Magadh</a:t>
            </a:r>
            <a:r>
              <a:rPr lang="en-US" dirty="0" smtClean="0"/>
              <a:t> </a:t>
            </a:r>
            <a:r>
              <a:rPr lang="en-US" dirty="0" err="1" smtClean="0"/>
              <a:t>Mahila</a:t>
            </a:r>
            <a:r>
              <a:rPr lang="en-US" dirty="0" smtClean="0"/>
              <a:t> College</a:t>
            </a:r>
            <a:br>
              <a:rPr lang="en-US" dirty="0" smtClean="0"/>
            </a:br>
            <a:r>
              <a:rPr lang="en-US" dirty="0" smtClean="0"/>
              <a:t>Patna University, Patna</a:t>
            </a:r>
            <a:br>
              <a:rPr lang="en-US" dirty="0" smtClean="0"/>
            </a:br>
            <a:r>
              <a:rPr lang="en-US" dirty="0" smtClean="0">
                <a:hlinkClick r:id="rId2"/>
              </a:rPr>
              <a:t>dr.namitakumari@gmail.com</a:t>
            </a:r>
            <a:r>
              <a:rPr lang="en-US" dirty="0" smtClean="0"/>
              <a:t/>
            </a:r>
            <a:br>
              <a:rPr lang="en-US" dirty="0" smtClean="0"/>
            </a:br>
            <a:r>
              <a:rPr lang="en-US" dirty="0" smtClean="0"/>
              <a:t>Mobile no </a:t>
            </a:r>
            <a:r>
              <a:rPr lang="en-US" dirty="0" smtClean="0"/>
              <a:t>9472938409</a:t>
            </a:r>
            <a:br>
              <a:rPr lang="en-US" dirty="0" smtClean="0"/>
            </a:br>
            <a:r>
              <a:rPr lang="en-US" dirty="0" smtClean="0"/>
              <a:t>April 2020</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2590800"/>
            <a:ext cx="7772400" cy="3178175"/>
          </a:xfrm>
        </p:spPr>
        <p:txBody>
          <a:bodyPr>
            <a:normAutofit/>
          </a:bodyPr>
          <a:lstStyle/>
          <a:p>
            <a:r>
              <a:rPr lang="en-US" sz="3200" dirty="0" smtClean="0">
                <a:solidFill>
                  <a:schemeClr val="bg1"/>
                </a:solidFill>
              </a:rPr>
              <a:t>WART DISEASE OF POTAO</a:t>
            </a:r>
            <a:br>
              <a:rPr lang="en-US" sz="3200" dirty="0" smtClean="0">
                <a:solidFill>
                  <a:schemeClr val="bg1"/>
                </a:solidFill>
              </a:rPr>
            </a:br>
            <a:r>
              <a:rPr lang="en-US" sz="3200" dirty="0" smtClean="0">
                <a:solidFill>
                  <a:schemeClr val="bg1"/>
                </a:solidFill>
              </a:rPr>
              <a:t>                    Caused by</a:t>
            </a:r>
            <a:br>
              <a:rPr lang="en-US" sz="3200" dirty="0" smtClean="0">
                <a:solidFill>
                  <a:schemeClr val="bg1"/>
                </a:solidFill>
              </a:rPr>
            </a:br>
            <a:r>
              <a:rPr lang="en-US" sz="3200" dirty="0" err="1" smtClean="0">
                <a:solidFill>
                  <a:schemeClr val="bg1"/>
                </a:solidFill>
              </a:rPr>
              <a:t>Synchytrium</a:t>
            </a:r>
            <a:r>
              <a:rPr lang="en-US" sz="3200" dirty="0" smtClean="0">
                <a:solidFill>
                  <a:schemeClr val="bg1"/>
                </a:solidFill>
              </a:rPr>
              <a:t>  </a:t>
            </a:r>
            <a:r>
              <a:rPr lang="en-US" sz="3200" dirty="0" err="1" smtClean="0">
                <a:solidFill>
                  <a:schemeClr val="bg1"/>
                </a:solidFill>
              </a:rPr>
              <a:t>endobioticum</a:t>
            </a:r>
            <a:endParaRPr lang="en-US" sz="3200" dirty="0">
              <a:solidFill>
                <a:schemeClr val="bg1"/>
              </a:solidFill>
            </a:endParaRPr>
          </a:p>
        </p:txBody>
      </p:sp>
      <p:sp>
        <p:nvSpPr>
          <p:cNvPr id="3" name="Text Placeholder 2"/>
          <p:cNvSpPr>
            <a:spLocks noGrp="1"/>
          </p:cNvSpPr>
          <p:nvPr>
            <p:ph type="body" idx="1"/>
          </p:nvPr>
        </p:nvSpPr>
        <p:spPr>
          <a:xfrm>
            <a:off x="722313" y="533401"/>
            <a:ext cx="7772400" cy="1981199"/>
          </a:xfrm>
        </p:spPr>
        <p:txBody>
          <a:bodyPr>
            <a:normAutofit fontScale="70000" lnSpcReduction="20000"/>
          </a:bodyPr>
          <a:lstStyle/>
          <a:p>
            <a:r>
              <a:rPr lang="en-US" sz="6000" b="1" dirty="0" smtClean="0">
                <a:solidFill>
                  <a:schemeClr val="tx1"/>
                </a:solidFill>
              </a:rPr>
              <a:t>For B.Sc. Botany </a:t>
            </a:r>
            <a:r>
              <a:rPr lang="en-US" sz="6000" b="1" dirty="0" err="1" smtClean="0">
                <a:solidFill>
                  <a:schemeClr val="tx1"/>
                </a:solidFill>
              </a:rPr>
              <a:t>Honours</a:t>
            </a:r>
            <a:endParaRPr lang="en-US" sz="6000" b="1" dirty="0" smtClean="0">
              <a:solidFill>
                <a:schemeClr val="tx1"/>
              </a:solidFill>
            </a:endParaRPr>
          </a:p>
          <a:p>
            <a:endParaRPr lang="en-US" sz="6000" b="1" dirty="0" smtClean="0"/>
          </a:p>
          <a:p>
            <a:r>
              <a:rPr lang="en-US" sz="6000" b="1" dirty="0" smtClean="0">
                <a:solidFill>
                  <a:schemeClr val="tx1"/>
                </a:solidFill>
              </a:rPr>
              <a:t>   SYNCHYTRIUM  or</a:t>
            </a:r>
            <a:endParaRPr lang="en-US" sz="6000" b="1" dirty="0">
              <a:solidFill>
                <a:schemeClr val="tx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Contents                                           1</a:t>
            </a:r>
            <a:endParaRPr lang="en-US" dirty="0"/>
          </a:p>
        </p:txBody>
      </p:sp>
      <p:sp>
        <p:nvSpPr>
          <p:cNvPr id="3" name="Content Placeholder 2"/>
          <p:cNvSpPr>
            <a:spLocks noGrp="1"/>
          </p:cNvSpPr>
          <p:nvPr>
            <p:ph idx="1"/>
          </p:nvPr>
        </p:nvSpPr>
        <p:spPr/>
        <p:txBody>
          <a:bodyPr/>
          <a:lstStyle/>
          <a:p>
            <a:r>
              <a:rPr lang="en-US" dirty="0" smtClean="0"/>
              <a:t>Introduction</a:t>
            </a:r>
          </a:p>
          <a:p>
            <a:r>
              <a:rPr lang="en-US" dirty="0" smtClean="0"/>
              <a:t>Classification</a:t>
            </a:r>
          </a:p>
          <a:p>
            <a:r>
              <a:rPr lang="en-US" dirty="0" smtClean="0"/>
              <a:t>Symptoms</a:t>
            </a:r>
          </a:p>
          <a:p>
            <a:r>
              <a:rPr lang="en-US" dirty="0" smtClean="0"/>
              <a:t>Somatic structure</a:t>
            </a:r>
          </a:p>
          <a:p>
            <a:r>
              <a:rPr lang="en-US" dirty="0" smtClean="0"/>
              <a:t>Life cycle</a:t>
            </a:r>
          </a:p>
          <a:p>
            <a:r>
              <a:rPr lang="en-US" dirty="0" smtClean="0"/>
              <a:t>Control</a:t>
            </a:r>
          </a:p>
          <a:p>
            <a:endParaRPr lang="en-US" dirty="0" smtClean="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r>
              <a:rPr lang="en-US" dirty="0" smtClean="0"/>
              <a:t>INTRODUCTION                                 2</a:t>
            </a:r>
            <a:endParaRPr lang="en-US" dirty="0"/>
          </a:p>
        </p:txBody>
      </p:sp>
      <p:sp>
        <p:nvSpPr>
          <p:cNvPr id="3" name="Content Placeholder 2"/>
          <p:cNvSpPr>
            <a:spLocks noGrp="1"/>
          </p:cNvSpPr>
          <p:nvPr>
            <p:ph idx="1"/>
          </p:nvPr>
        </p:nvSpPr>
        <p:spPr>
          <a:xfrm>
            <a:off x="457200" y="685800"/>
            <a:ext cx="8229600" cy="5638800"/>
          </a:xfrm>
        </p:spPr>
        <p:txBody>
          <a:bodyPr>
            <a:noAutofit/>
          </a:bodyPr>
          <a:lstStyle/>
          <a:p>
            <a:r>
              <a:rPr lang="en-US" sz="3200" u="sng" dirty="0" err="1" smtClean="0"/>
              <a:t>Synchytrium</a:t>
            </a:r>
            <a:r>
              <a:rPr lang="en-US" sz="3200" dirty="0" smtClean="0"/>
              <a:t> </a:t>
            </a:r>
            <a:r>
              <a:rPr lang="en-US" sz="3200" u="sng" dirty="0" err="1" smtClean="0"/>
              <a:t>endobioticum</a:t>
            </a:r>
            <a:r>
              <a:rPr lang="en-US" sz="3200" u="sng" dirty="0" smtClean="0"/>
              <a:t> </a:t>
            </a:r>
            <a:r>
              <a:rPr lang="en-US" sz="3200" dirty="0" smtClean="0"/>
              <a:t>causes the black wart or wart disease of potato(</a:t>
            </a:r>
            <a:r>
              <a:rPr lang="en-US" sz="3200" u="sng" dirty="0" err="1" smtClean="0"/>
              <a:t>Solanum</a:t>
            </a:r>
            <a:r>
              <a:rPr lang="en-US" sz="3200" dirty="0" smtClean="0"/>
              <a:t> </a:t>
            </a:r>
            <a:r>
              <a:rPr lang="en-US" sz="3200" u="sng" dirty="0" err="1" smtClean="0"/>
              <a:t>tuberosum</a:t>
            </a:r>
            <a:r>
              <a:rPr lang="en-US" sz="3200" dirty="0" smtClean="0"/>
              <a:t>).</a:t>
            </a:r>
          </a:p>
          <a:p>
            <a:r>
              <a:rPr lang="en-US" sz="3200" dirty="0" smtClean="0"/>
              <a:t> The potato wart disease is widely distributed in all the potato growing regions of the world. It is prevalent in areas with a cool moist climate.</a:t>
            </a:r>
          </a:p>
          <a:p>
            <a:r>
              <a:rPr lang="en-US" sz="3200" dirty="0" smtClean="0"/>
              <a:t>In India it has been reported from Darjeeling district  (West Bengal) and areas of Nepal. </a:t>
            </a:r>
          </a:p>
          <a:p>
            <a:r>
              <a:rPr lang="en-US" sz="3200" dirty="0" smtClean="0"/>
              <a:t>The fungal parasite cannot survive in hot places.</a:t>
            </a:r>
            <a:endParaRPr lang="en-US" sz="3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US" dirty="0" smtClean="0"/>
              <a:t>Classification                                      3</a:t>
            </a:r>
            <a:endParaRPr lang="en-US" dirty="0"/>
          </a:p>
        </p:txBody>
      </p:sp>
      <p:sp>
        <p:nvSpPr>
          <p:cNvPr id="3" name="Content Placeholder 2"/>
          <p:cNvSpPr>
            <a:spLocks noGrp="1"/>
          </p:cNvSpPr>
          <p:nvPr>
            <p:ph idx="1"/>
          </p:nvPr>
        </p:nvSpPr>
        <p:spPr/>
        <p:txBody>
          <a:bodyPr/>
          <a:lstStyle/>
          <a:p>
            <a:r>
              <a:rPr lang="en-US" dirty="0" smtClean="0"/>
              <a:t>Division –</a:t>
            </a:r>
            <a:r>
              <a:rPr lang="en-US" dirty="0" err="1" smtClean="0"/>
              <a:t>Mycota</a:t>
            </a:r>
            <a:endParaRPr lang="en-US" dirty="0" smtClean="0"/>
          </a:p>
          <a:p>
            <a:r>
              <a:rPr lang="en-US" dirty="0" smtClean="0"/>
              <a:t>Sub-division- </a:t>
            </a:r>
            <a:r>
              <a:rPr lang="en-US" dirty="0" err="1" smtClean="0"/>
              <a:t>Eumicotina</a:t>
            </a:r>
            <a:endParaRPr lang="en-US" dirty="0" smtClean="0"/>
          </a:p>
          <a:p>
            <a:r>
              <a:rPr lang="en-US" dirty="0" smtClean="0"/>
              <a:t>Class – </a:t>
            </a:r>
            <a:r>
              <a:rPr lang="en-US" dirty="0" err="1" smtClean="0"/>
              <a:t>Chytridiomycetes</a:t>
            </a:r>
            <a:endParaRPr lang="en-US" dirty="0" smtClean="0"/>
          </a:p>
          <a:p>
            <a:r>
              <a:rPr lang="en-US" dirty="0" smtClean="0"/>
              <a:t>Order – </a:t>
            </a:r>
            <a:r>
              <a:rPr lang="en-US" dirty="0" err="1" smtClean="0"/>
              <a:t>Chytridiales</a:t>
            </a:r>
            <a:endParaRPr lang="en-US" dirty="0" smtClean="0"/>
          </a:p>
          <a:p>
            <a:r>
              <a:rPr lang="en-US" dirty="0" smtClean="0"/>
              <a:t>Family – </a:t>
            </a:r>
            <a:r>
              <a:rPr lang="en-US" dirty="0" err="1" smtClean="0"/>
              <a:t>Synchytriaceae</a:t>
            </a:r>
            <a:endParaRPr lang="en-US" dirty="0" smtClean="0"/>
          </a:p>
          <a:p>
            <a:r>
              <a:rPr lang="en-US" dirty="0" smtClean="0"/>
              <a:t>Genus – </a:t>
            </a:r>
            <a:r>
              <a:rPr lang="en-US" dirty="0" err="1" smtClean="0"/>
              <a:t>Synchytrium</a:t>
            </a:r>
            <a:endParaRPr lang="en-US" dirty="0" smtClean="0"/>
          </a:p>
          <a:p>
            <a:r>
              <a:rPr lang="en-US" dirty="0" smtClean="0"/>
              <a:t>Species- </a:t>
            </a:r>
            <a:r>
              <a:rPr lang="en-US" dirty="0" err="1" smtClean="0"/>
              <a:t>endobioticum</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dirty="0" smtClean="0">
                <a:solidFill>
                  <a:schemeClr val="tx1"/>
                </a:solidFill>
              </a:rPr>
              <a:t>Symptoms</a:t>
            </a:r>
            <a:r>
              <a:rPr lang="en-US" dirty="0" smtClean="0">
                <a:solidFill>
                  <a:schemeClr val="tx1"/>
                </a:solidFill>
              </a:rPr>
              <a:t>:-                                      4</a:t>
            </a:r>
            <a:endParaRPr lang="en-US" dirty="0">
              <a:solidFill>
                <a:schemeClr val="tx1"/>
              </a:solidFill>
            </a:endParaRPr>
          </a:p>
        </p:txBody>
      </p:sp>
      <p:sp>
        <p:nvSpPr>
          <p:cNvPr id="3" name="Content Placeholder 2"/>
          <p:cNvSpPr>
            <a:spLocks noGrp="1"/>
          </p:cNvSpPr>
          <p:nvPr>
            <p:ph idx="1"/>
          </p:nvPr>
        </p:nvSpPr>
        <p:spPr>
          <a:xfrm>
            <a:off x="457200" y="457200"/>
            <a:ext cx="8229600" cy="6172200"/>
          </a:xfrm>
        </p:spPr>
        <p:txBody>
          <a:bodyPr>
            <a:noAutofit/>
          </a:bodyPr>
          <a:lstStyle/>
          <a:p>
            <a:r>
              <a:rPr lang="en-US" sz="2800" dirty="0" smtClean="0"/>
              <a:t>Usually the disease affects the underground parts of the host.</a:t>
            </a:r>
          </a:p>
          <a:p>
            <a:r>
              <a:rPr lang="en-US" sz="2800" dirty="0" smtClean="0"/>
              <a:t>Diseased Potato tubers appear as dark brown or black cauliflowers like outgrowths.</a:t>
            </a:r>
          </a:p>
          <a:p>
            <a:r>
              <a:rPr lang="en-US" sz="2800" dirty="0" smtClean="0"/>
              <a:t>Gall or Tumors may be formed on aerial as well.</a:t>
            </a:r>
          </a:p>
          <a:p>
            <a:r>
              <a:rPr lang="en-US" sz="2800" dirty="0" smtClean="0"/>
              <a:t>On shoots, the disease appears in the form of outgrowths on green twisted leafy structure. </a:t>
            </a:r>
          </a:p>
          <a:p>
            <a:r>
              <a:rPr lang="en-US" sz="2800" dirty="0" smtClean="0"/>
              <a:t>Due to the presence of the fungus, the host cells are stimulated to divide leading to increase in the number of host cells which contain resting sporangia- making </a:t>
            </a:r>
            <a:r>
              <a:rPr lang="en-US" sz="2800" dirty="0" smtClean="0">
                <a:latin typeface="+mj-lt"/>
              </a:rPr>
              <a:t>wart like appearance outside.</a:t>
            </a:r>
          </a:p>
          <a:p>
            <a:r>
              <a:rPr lang="en-US" sz="2800" dirty="0" smtClean="0">
                <a:latin typeface="+mj-lt"/>
              </a:rPr>
              <a:t>The wart is soft and</a:t>
            </a:r>
            <a:r>
              <a:rPr lang="en-US" sz="2800" dirty="0" smtClean="0"/>
              <a:t>  pulpy. The warty tubers become deformed, tasteless, unfit for human consumption and a source of infection.</a:t>
            </a:r>
            <a:endParaRPr lang="en-U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rint page"/>
          <p:cNvPicPr/>
          <p:nvPr/>
        </p:nvPicPr>
        <p:blipFill>
          <a:blip r:embed="rId2"/>
          <a:srcRect/>
          <a:stretch>
            <a:fillRect/>
          </a:stretch>
        </p:blipFill>
        <p:spPr bwMode="auto">
          <a:xfrm>
            <a:off x="914400" y="1066800"/>
            <a:ext cx="7696200" cy="533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Infected Potato Tubers showing Wart infections</a:t>
            </a:r>
            <a:r>
              <a:rPr lang="en-US" dirty="0" smtClean="0"/>
              <a:t>.                               6</a:t>
            </a:r>
            <a:endParaRPr lang="en-US" dirty="0"/>
          </a:p>
        </p:txBody>
      </p:sp>
      <p:sp>
        <p:nvSpPr>
          <p:cNvPr id="3" name="Text Placeholder 2"/>
          <p:cNvSpPr>
            <a:spLocks noGrp="1"/>
          </p:cNvSpPr>
          <p:nvPr>
            <p:ph type="body" idx="1"/>
          </p:nvPr>
        </p:nvSpPr>
        <p:spPr/>
        <p:txBody>
          <a:bodyPr/>
          <a:lstStyle/>
          <a:p>
            <a:endParaRPr lang="en-US"/>
          </a:p>
        </p:txBody>
      </p:sp>
      <p:sp>
        <p:nvSpPr>
          <p:cNvPr id="5" name="Text Placeholder 4"/>
          <p:cNvSpPr>
            <a:spLocks noGrp="1"/>
          </p:cNvSpPr>
          <p:nvPr>
            <p:ph type="body" sz="half" idx="3"/>
          </p:nvPr>
        </p:nvSpPr>
        <p:spPr/>
        <p:txBody>
          <a:bodyPr/>
          <a:lstStyle/>
          <a:p>
            <a:endParaRPr lang="en-US"/>
          </a:p>
        </p:txBody>
      </p:sp>
      <p:pic>
        <p:nvPicPr>
          <p:cNvPr id="7" name="Content Placeholder 6" descr="https://www.apsnet.org/edcenter/apsnetfeatures/PublishingImages/2007Features/Potato_Fig02sm.jpg"/>
          <p:cNvPicPr>
            <a:picLocks noGrp="1"/>
          </p:cNvPicPr>
          <p:nvPr>
            <p:ph sz="quarter" idx="2"/>
          </p:nvPr>
        </p:nvPicPr>
        <p:blipFill>
          <a:blip r:embed="rId2"/>
          <a:stretch>
            <a:fillRect/>
          </a:stretch>
        </p:blipFill>
        <p:spPr bwMode="auto">
          <a:xfrm>
            <a:off x="1531144" y="3015456"/>
            <a:ext cx="1892300" cy="2844800"/>
          </a:xfrm>
          <a:prstGeom prst="rect">
            <a:avLst/>
          </a:prstGeom>
          <a:noFill/>
          <a:ln w="9525">
            <a:noFill/>
            <a:miter lim="800000"/>
            <a:headEnd/>
            <a:tailEnd/>
          </a:ln>
        </p:spPr>
      </p:pic>
      <p:pic>
        <p:nvPicPr>
          <p:cNvPr id="8" name="Content Placeholder 7" descr="https://www.apsnet.org/edcenter/apsnetfeatures/Article%20Images/Potato_Fig01.jpg"/>
          <p:cNvPicPr>
            <a:picLocks noGrp="1"/>
          </p:cNvPicPr>
          <p:nvPr>
            <p:ph sz="quarter" idx="4"/>
          </p:nvPr>
        </p:nvPicPr>
        <p:blipFill>
          <a:blip r:embed="rId3"/>
          <a:srcRect/>
          <a:stretch>
            <a:fillRect/>
          </a:stretch>
        </p:blipFill>
        <p:spPr bwMode="auto">
          <a:xfrm>
            <a:off x="5334000" y="2438400"/>
            <a:ext cx="2634192" cy="39512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smtClean="0"/>
              <a:t>T.S. of potato tuber through warty portions showing Resting </a:t>
            </a:r>
            <a:r>
              <a:rPr lang="en-US" sz="3200" dirty="0" err="1" smtClean="0"/>
              <a:t>sporngium</a:t>
            </a:r>
            <a:r>
              <a:rPr lang="en-US" sz="3200" dirty="0" smtClean="0"/>
              <a:t>( brown </a:t>
            </a:r>
            <a:r>
              <a:rPr lang="en-US" sz="3200" dirty="0" err="1" smtClean="0"/>
              <a:t>coloured</a:t>
            </a:r>
            <a:r>
              <a:rPr lang="en-US" sz="3200" dirty="0" smtClean="0"/>
              <a:t>) and adjacent multiplied cells</a:t>
            </a:r>
            <a:r>
              <a:rPr lang="en-US" sz="3200" dirty="0" smtClean="0"/>
              <a:t>.                                                                   7</a:t>
            </a:r>
            <a:endParaRPr lang="en-US" sz="3200" dirty="0"/>
          </a:p>
        </p:txBody>
      </p:sp>
      <p:pic>
        <p:nvPicPr>
          <p:cNvPr id="3" name="Picture 2" descr="http://my-krakatau.mykopat.slu.se/~www/Pedproj/Synchytrium%20endobioticum.jpg"/>
          <p:cNvPicPr/>
          <p:nvPr/>
        </p:nvPicPr>
        <p:blipFill>
          <a:blip r:embed="rId2"/>
          <a:srcRect/>
          <a:stretch>
            <a:fillRect/>
          </a:stretch>
        </p:blipFill>
        <p:spPr bwMode="auto">
          <a:xfrm>
            <a:off x="685800" y="1905000"/>
            <a:ext cx="8001000" cy="441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r>
              <a:rPr lang="en-US" dirty="0" smtClean="0"/>
              <a:t>Somatic </a:t>
            </a:r>
            <a:r>
              <a:rPr lang="en-US" dirty="0" smtClean="0"/>
              <a:t>structure                            8                                   </a:t>
            </a:r>
            <a:endParaRPr lang="en-US" dirty="0"/>
          </a:p>
        </p:txBody>
      </p:sp>
      <p:sp>
        <p:nvSpPr>
          <p:cNvPr id="3" name="Content Placeholder 2"/>
          <p:cNvSpPr>
            <a:spLocks noGrp="1"/>
          </p:cNvSpPr>
          <p:nvPr>
            <p:ph idx="1"/>
          </p:nvPr>
        </p:nvSpPr>
        <p:spPr>
          <a:xfrm>
            <a:off x="457200" y="1524000"/>
            <a:ext cx="8229600" cy="4800600"/>
          </a:xfrm>
        </p:spPr>
        <p:txBody>
          <a:bodyPr/>
          <a:lstStyle/>
          <a:p>
            <a:r>
              <a:rPr lang="en-US" dirty="0" smtClean="0"/>
              <a:t>The </a:t>
            </a:r>
            <a:r>
              <a:rPr lang="en-US" dirty="0" err="1" smtClean="0"/>
              <a:t>thallus</a:t>
            </a:r>
            <a:r>
              <a:rPr lang="en-US" dirty="0" smtClean="0"/>
              <a:t> of </a:t>
            </a:r>
            <a:r>
              <a:rPr lang="en-US" u="sng" dirty="0" err="1" smtClean="0"/>
              <a:t>Synchytrium</a:t>
            </a:r>
            <a:r>
              <a:rPr lang="en-US" dirty="0" smtClean="0"/>
              <a:t> </a:t>
            </a:r>
            <a:r>
              <a:rPr lang="en-US" u="sng" dirty="0" err="1" smtClean="0"/>
              <a:t>endobioticum</a:t>
            </a:r>
            <a:r>
              <a:rPr lang="en-US" u="sng" dirty="0" smtClean="0"/>
              <a:t> </a:t>
            </a:r>
            <a:r>
              <a:rPr lang="en-US" dirty="0" smtClean="0"/>
              <a:t>is a </a:t>
            </a:r>
            <a:r>
              <a:rPr lang="en-US" dirty="0" err="1" smtClean="0"/>
              <a:t>holocarpic</a:t>
            </a:r>
            <a:r>
              <a:rPr lang="en-US" dirty="0" smtClean="0"/>
              <a:t> </a:t>
            </a:r>
            <a:r>
              <a:rPr lang="en-US" dirty="0" err="1" smtClean="0"/>
              <a:t>endoparasite</a:t>
            </a:r>
            <a:r>
              <a:rPr lang="en-US" dirty="0" smtClean="0"/>
              <a:t>.</a:t>
            </a:r>
          </a:p>
          <a:p>
            <a:r>
              <a:rPr lang="en-US" dirty="0" smtClean="0"/>
              <a:t>It is a </a:t>
            </a:r>
            <a:r>
              <a:rPr lang="en-US" dirty="0" err="1" smtClean="0"/>
              <a:t>holocarpic</a:t>
            </a:r>
            <a:r>
              <a:rPr lang="en-US" dirty="0" smtClean="0"/>
              <a:t> fungus because </a:t>
            </a:r>
            <a:r>
              <a:rPr lang="en-US" dirty="0" err="1" smtClean="0"/>
              <a:t>thallus</a:t>
            </a:r>
            <a:r>
              <a:rPr lang="en-US" dirty="0" smtClean="0"/>
              <a:t> is naked and unicellular.</a:t>
            </a:r>
          </a:p>
          <a:p>
            <a:r>
              <a:rPr lang="en-US" dirty="0" smtClean="0"/>
              <a:t>The </a:t>
            </a:r>
            <a:r>
              <a:rPr lang="en-US" dirty="0" err="1" smtClean="0"/>
              <a:t>thallus</a:t>
            </a:r>
            <a:r>
              <a:rPr lang="en-US" dirty="0" smtClean="0"/>
              <a:t> forms a mass of naked, uninucleate amoeboid mass of protoplasm.</a:t>
            </a:r>
          </a:p>
          <a:p>
            <a:r>
              <a:rPr lang="en-US" dirty="0" smtClean="0"/>
              <a:t>Soon, a double layered </a:t>
            </a:r>
            <a:r>
              <a:rPr lang="en-US" dirty="0" err="1" smtClean="0"/>
              <a:t>chitinous</a:t>
            </a:r>
            <a:r>
              <a:rPr lang="en-US" dirty="0" smtClean="0"/>
              <a:t> wall develops around the </a:t>
            </a:r>
            <a:r>
              <a:rPr lang="en-US" dirty="0" err="1" smtClean="0"/>
              <a:t>thallus</a:t>
            </a:r>
            <a:r>
              <a:rPr lang="en-US" dirty="0" smtClean="0"/>
              <a:t>. </a:t>
            </a:r>
          </a:p>
          <a:p>
            <a:r>
              <a:rPr lang="en-US" dirty="0" smtClean="0"/>
              <a:t>The fungus is an </a:t>
            </a:r>
            <a:r>
              <a:rPr lang="en-US" dirty="0" err="1" smtClean="0"/>
              <a:t>endoparasite</a:t>
            </a:r>
            <a:r>
              <a:rPr lang="en-US" dirty="0" smtClean="0"/>
              <a:t> because it is </a:t>
            </a:r>
            <a:r>
              <a:rPr lang="en-US" dirty="0" err="1" smtClean="0"/>
              <a:t>endobiotic</a:t>
            </a:r>
            <a:r>
              <a:rPr lang="en-US" dirty="0" smtClean="0"/>
              <a:t> and occurs as a parasite in the epidermal cells of the host. </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dirty="0" smtClean="0"/>
              <a:t>Life-cycle</a:t>
            </a:r>
            <a:r>
              <a:rPr lang="en-US" dirty="0" smtClean="0"/>
              <a:t>.                                         9</a:t>
            </a:r>
            <a:endParaRPr lang="en-US" dirty="0"/>
          </a:p>
        </p:txBody>
      </p:sp>
      <p:sp>
        <p:nvSpPr>
          <p:cNvPr id="3" name="Content Placeholder 2"/>
          <p:cNvSpPr>
            <a:spLocks noGrp="1"/>
          </p:cNvSpPr>
          <p:nvPr>
            <p:ph idx="1"/>
          </p:nvPr>
        </p:nvSpPr>
        <p:spPr>
          <a:xfrm>
            <a:off x="457200" y="609600"/>
            <a:ext cx="8229600" cy="5715000"/>
          </a:xfrm>
        </p:spPr>
        <p:txBody>
          <a:bodyPr>
            <a:normAutofit fontScale="92500"/>
          </a:bodyPr>
          <a:lstStyle/>
          <a:p>
            <a:r>
              <a:rPr lang="en-US" sz="2400" dirty="0" smtClean="0"/>
              <a:t>Life cycle of </a:t>
            </a:r>
            <a:r>
              <a:rPr lang="en-US" sz="2400" i="1" dirty="0" smtClean="0"/>
              <a:t>S. </a:t>
            </a:r>
            <a:r>
              <a:rPr lang="en-US" sz="2400" i="1" dirty="0" err="1" smtClean="0"/>
              <a:t>endobioticum</a:t>
            </a:r>
            <a:r>
              <a:rPr lang="en-US" sz="2400" i="1" dirty="0" smtClean="0"/>
              <a:t> </a:t>
            </a:r>
            <a:r>
              <a:rPr lang="en-US" sz="2400" dirty="0" smtClean="0"/>
              <a:t>has been studied by </a:t>
            </a:r>
            <a:r>
              <a:rPr lang="en-US" sz="2400" dirty="0" smtClean="0">
                <a:latin typeface="+mj-lt"/>
              </a:rPr>
              <a:t>Curtis( 1921) and Kohler (1923,1931) . Two phases – </a:t>
            </a:r>
            <a:r>
              <a:rPr lang="en-US" sz="2400" b="1" dirty="0" smtClean="0">
                <a:latin typeface="+mj-lt"/>
              </a:rPr>
              <a:t>Asexual phase </a:t>
            </a:r>
            <a:r>
              <a:rPr lang="en-US" sz="2400" dirty="0" smtClean="0">
                <a:latin typeface="+mj-lt"/>
              </a:rPr>
              <a:t>and </a:t>
            </a:r>
            <a:r>
              <a:rPr lang="en-US" sz="2400" b="1" dirty="0" smtClean="0">
                <a:latin typeface="+mj-lt"/>
              </a:rPr>
              <a:t>Sexual phase.</a:t>
            </a:r>
          </a:p>
          <a:p>
            <a:r>
              <a:rPr lang="en-US" sz="2400" b="1" i="1" dirty="0" smtClean="0">
                <a:latin typeface="+mj-lt"/>
              </a:rPr>
              <a:t>Asexual phase:- </a:t>
            </a:r>
            <a:r>
              <a:rPr lang="en-US" sz="2400" dirty="0" smtClean="0">
                <a:latin typeface="+mj-lt"/>
              </a:rPr>
              <a:t>There are following stages –</a:t>
            </a:r>
          </a:p>
          <a:p>
            <a:r>
              <a:rPr lang="en-US" sz="2400" dirty="0" smtClean="0">
                <a:latin typeface="+mj-lt"/>
              </a:rPr>
              <a:t>1. Infection- The zoospores swims in a film of water in the contaminated soil and finally reach a potato plant </a:t>
            </a:r>
            <a:r>
              <a:rPr lang="en-US" sz="2400" dirty="0" err="1" smtClean="0">
                <a:latin typeface="+mj-lt"/>
              </a:rPr>
              <a:t>ie</a:t>
            </a:r>
            <a:r>
              <a:rPr lang="en-US" sz="2400" dirty="0" smtClean="0">
                <a:latin typeface="+mj-lt"/>
              </a:rPr>
              <a:t> either on tuber or </a:t>
            </a:r>
            <a:r>
              <a:rPr lang="en-US" sz="2400" dirty="0" err="1" smtClean="0">
                <a:latin typeface="+mj-lt"/>
              </a:rPr>
              <a:t>stolon</a:t>
            </a:r>
            <a:r>
              <a:rPr lang="en-US" sz="2400" dirty="0" smtClean="0">
                <a:latin typeface="+mj-lt"/>
              </a:rPr>
              <a:t>. The zoospore retracts its flagellum and germinates by putting out a peg like penetration tube, which pierces the cuticle and the wall of the epidermal cell. Subsequently the uninucleate protoplast of the zoospores enters the host as a naked mass. </a:t>
            </a:r>
          </a:p>
          <a:p>
            <a:r>
              <a:rPr lang="en-US" sz="2400" dirty="0" smtClean="0">
                <a:latin typeface="+mj-lt"/>
              </a:rPr>
              <a:t>2.Prosorus stage- The unicellular parasite absorbs food material from host cell, increases in size, and become pear shaped. </a:t>
            </a:r>
            <a:r>
              <a:rPr lang="en-US" sz="2400" dirty="0" err="1" smtClean="0">
                <a:latin typeface="+mj-lt"/>
              </a:rPr>
              <a:t>Thallus</a:t>
            </a:r>
            <a:r>
              <a:rPr lang="en-US" sz="2400" dirty="0" smtClean="0">
                <a:latin typeface="+mj-lt"/>
              </a:rPr>
              <a:t> secrets a wall around it which is differentiated into an outer, thick , golden yellow </a:t>
            </a:r>
            <a:r>
              <a:rPr lang="en-US" sz="2400" dirty="0" err="1" smtClean="0">
                <a:latin typeface="+mj-lt"/>
              </a:rPr>
              <a:t>exospore</a:t>
            </a:r>
            <a:r>
              <a:rPr lang="en-US" sz="2400" dirty="0" smtClean="0">
                <a:latin typeface="+mj-lt"/>
              </a:rPr>
              <a:t> and inner thin, hyaline </a:t>
            </a:r>
            <a:r>
              <a:rPr lang="en-US" sz="2400" dirty="0" err="1" smtClean="0">
                <a:latin typeface="+mj-lt"/>
              </a:rPr>
              <a:t>endospore</a:t>
            </a:r>
            <a:r>
              <a:rPr lang="en-US" sz="2400" dirty="0" smtClean="0">
                <a:latin typeface="+mj-lt"/>
              </a:rPr>
              <a:t> . The nucleus also increases in size. Now the mature </a:t>
            </a:r>
            <a:r>
              <a:rPr lang="en-US" sz="2400" dirty="0" err="1" smtClean="0">
                <a:latin typeface="+mj-lt"/>
              </a:rPr>
              <a:t>thallus</a:t>
            </a:r>
            <a:r>
              <a:rPr lang="en-US" sz="2400" dirty="0" smtClean="0">
                <a:latin typeface="+mj-lt"/>
              </a:rPr>
              <a:t> is called </a:t>
            </a:r>
            <a:r>
              <a:rPr lang="en-US" sz="2400" b="1" dirty="0" err="1" smtClean="0">
                <a:latin typeface="+mj-lt"/>
              </a:rPr>
              <a:t>Prosorus</a:t>
            </a:r>
            <a:r>
              <a:rPr lang="en-US" sz="2400" b="1" dirty="0" smtClean="0">
                <a:latin typeface="+mj-lt"/>
              </a:rPr>
              <a:t>.</a:t>
            </a:r>
            <a:endParaRPr lang="en-US" sz="2400" b="1" dirty="0">
              <a:latin typeface="+mj-l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ASEXUAL </a:t>
            </a:r>
            <a:r>
              <a:rPr lang="en-US" dirty="0" smtClean="0"/>
              <a:t>REPRODUCTION          10</a:t>
            </a:r>
            <a:endParaRPr lang="en-US" dirty="0"/>
          </a:p>
        </p:txBody>
      </p:sp>
      <p:pic>
        <p:nvPicPr>
          <p:cNvPr id="3" name="Picture 2" descr="Synchytrium Endobioticum: Symptoms and Thallus Structure | Disease"/>
          <p:cNvPicPr>
            <a:picLocks noChangeAspect="1" noChangeArrowheads="1"/>
          </p:cNvPicPr>
          <p:nvPr/>
        </p:nvPicPr>
        <p:blipFill>
          <a:blip r:embed="rId2"/>
          <a:srcRect/>
          <a:stretch>
            <a:fillRect/>
          </a:stretch>
        </p:blipFill>
        <p:spPr bwMode="auto">
          <a:xfrm>
            <a:off x="1143000" y="838200"/>
            <a:ext cx="7391400" cy="601980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US" dirty="0" smtClean="0"/>
              <a:t>Life- cycle        </a:t>
            </a:r>
            <a:r>
              <a:rPr lang="en-US" dirty="0" smtClean="0"/>
              <a:t> </a:t>
            </a:r>
            <a:r>
              <a:rPr lang="en-US" sz="3600" dirty="0" smtClean="0"/>
              <a:t>Asexual phage (</a:t>
            </a:r>
            <a:r>
              <a:rPr lang="en-US" sz="3600" dirty="0" err="1" smtClean="0"/>
              <a:t>contd</a:t>
            </a:r>
            <a:r>
              <a:rPr lang="en-US" sz="3600" dirty="0" smtClean="0"/>
              <a:t>)    11</a:t>
            </a:r>
            <a:endParaRPr lang="en-US" sz="3600" dirty="0"/>
          </a:p>
        </p:txBody>
      </p:sp>
      <p:sp>
        <p:nvSpPr>
          <p:cNvPr id="3" name="Content Placeholder 2"/>
          <p:cNvSpPr>
            <a:spLocks noGrp="1"/>
          </p:cNvSpPr>
          <p:nvPr>
            <p:ph idx="1"/>
          </p:nvPr>
        </p:nvSpPr>
        <p:spPr>
          <a:xfrm>
            <a:off x="457200" y="914400"/>
            <a:ext cx="8229600" cy="5943600"/>
          </a:xfrm>
        </p:spPr>
        <p:txBody>
          <a:bodyPr>
            <a:normAutofit lnSpcReduction="10000"/>
          </a:bodyPr>
          <a:lstStyle/>
          <a:p>
            <a:r>
              <a:rPr lang="en-US" dirty="0" smtClean="0"/>
              <a:t>Meanwhile the adjacent epidermal cells and the surrounding cortical cells stimulated and divide rapidly and repeatedly to form a minute gall or tumor or wart like tissue or rosette of cells.</a:t>
            </a:r>
          </a:p>
          <a:p>
            <a:r>
              <a:rPr lang="en-US" dirty="0" smtClean="0">
                <a:latin typeface="+mj-lt"/>
              </a:rPr>
              <a:t>3. Germination of </a:t>
            </a:r>
            <a:r>
              <a:rPr lang="en-US" dirty="0" err="1" smtClean="0">
                <a:latin typeface="+mj-lt"/>
              </a:rPr>
              <a:t>prosorus</a:t>
            </a:r>
            <a:r>
              <a:rPr lang="en-US" dirty="0" smtClean="0">
                <a:latin typeface="+mj-lt"/>
              </a:rPr>
              <a:t>- The mature </a:t>
            </a:r>
            <a:r>
              <a:rPr lang="en-US" dirty="0" err="1" smtClean="0">
                <a:latin typeface="+mj-lt"/>
              </a:rPr>
              <a:t>prosorus</a:t>
            </a:r>
            <a:r>
              <a:rPr lang="en-US" dirty="0" smtClean="0">
                <a:latin typeface="+mj-lt"/>
              </a:rPr>
              <a:t> germinates within the host cell. A pore is formed in the thick </a:t>
            </a:r>
            <a:r>
              <a:rPr lang="en-US" dirty="0" err="1" smtClean="0">
                <a:latin typeface="+mj-lt"/>
              </a:rPr>
              <a:t>exospore</a:t>
            </a:r>
            <a:r>
              <a:rPr lang="en-US" dirty="0" smtClean="0">
                <a:latin typeface="+mj-lt"/>
              </a:rPr>
              <a:t> layer. The thin, hyaline </a:t>
            </a:r>
            <a:r>
              <a:rPr lang="en-US" dirty="0" err="1" smtClean="0">
                <a:latin typeface="+mj-lt"/>
              </a:rPr>
              <a:t>endospore</a:t>
            </a:r>
            <a:r>
              <a:rPr lang="en-US" dirty="0" smtClean="0">
                <a:latin typeface="+mj-lt"/>
              </a:rPr>
              <a:t> </a:t>
            </a:r>
            <a:r>
              <a:rPr lang="en-US" dirty="0" err="1" smtClean="0">
                <a:latin typeface="+mj-lt"/>
              </a:rPr>
              <a:t>iayer</a:t>
            </a:r>
            <a:r>
              <a:rPr lang="en-US" dirty="0" smtClean="0">
                <a:latin typeface="+mj-lt"/>
              </a:rPr>
              <a:t> extrudes through the pore in the form of vesicle. The  contents of </a:t>
            </a:r>
            <a:r>
              <a:rPr lang="en-US" dirty="0" err="1" smtClean="0">
                <a:latin typeface="+mj-lt"/>
              </a:rPr>
              <a:t>prosorus</a:t>
            </a:r>
            <a:r>
              <a:rPr lang="en-US" dirty="0" smtClean="0">
                <a:latin typeface="+mj-lt"/>
              </a:rPr>
              <a:t> migrate into vesicle which come out in the upper half of the host cell. During migration, </a:t>
            </a:r>
            <a:r>
              <a:rPr lang="en-US" dirty="0" err="1" smtClean="0">
                <a:latin typeface="+mj-lt"/>
              </a:rPr>
              <a:t>prosorus</a:t>
            </a:r>
            <a:r>
              <a:rPr lang="en-US" dirty="0" smtClean="0">
                <a:latin typeface="+mj-lt"/>
              </a:rPr>
              <a:t> nucleus divides( by mitosis) repeatedly into 32 daughter nuclei.  The multinucleate protoplast of the vesicle  is now partitioned by thin walls into4 to 9 multinucleate polygonal segments. Now each segment functions as </a:t>
            </a:r>
            <a:r>
              <a:rPr lang="en-US" b="1" dirty="0" smtClean="0">
                <a:latin typeface="+mj-lt"/>
              </a:rPr>
              <a:t>Sporangium  </a:t>
            </a:r>
            <a:r>
              <a:rPr lang="en-US" dirty="0" smtClean="0">
                <a:latin typeface="+mj-lt"/>
              </a:rPr>
              <a:t>and the whole mass is known as </a:t>
            </a:r>
            <a:r>
              <a:rPr lang="en-US" b="1" dirty="0" err="1" smtClean="0">
                <a:latin typeface="+mj-lt"/>
              </a:rPr>
              <a:t>Sorus</a:t>
            </a:r>
            <a:r>
              <a:rPr lang="en-US" b="1" dirty="0" smtClean="0">
                <a:latin typeface="+mj-lt"/>
              </a:rPr>
              <a:t>.</a:t>
            </a:r>
            <a:endParaRPr lang="en-US" b="1" dirty="0">
              <a:latin typeface="+mj-l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533400"/>
          </a:xfrm>
        </p:spPr>
        <p:txBody>
          <a:bodyPr>
            <a:normAutofit fontScale="90000"/>
          </a:bodyPr>
          <a:lstStyle/>
          <a:p>
            <a:r>
              <a:rPr lang="en-US" dirty="0" smtClean="0"/>
              <a:t>Life- cycle  </a:t>
            </a:r>
            <a:r>
              <a:rPr lang="en-US" dirty="0" smtClean="0"/>
              <a:t> </a:t>
            </a:r>
            <a:r>
              <a:rPr lang="en-US" sz="3600" dirty="0" smtClean="0"/>
              <a:t>Asexual phage (</a:t>
            </a:r>
            <a:r>
              <a:rPr lang="en-US" sz="3600" dirty="0" err="1" smtClean="0"/>
              <a:t>contd</a:t>
            </a:r>
            <a:r>
              <a:rPr lang="en-US" sz="3600" dirty="0" smtClean="0"/>
              <a:t>)        12</a:t>
            </a:r>
            <a:endParaRPr lang="en-US" dirty="0"/>
          </a:p>
        </p:txBody>
      </p:sp>
      <p:sp>
        <p:nvSpPr>
          <p:cNvPr id="3" name="Content Placeholder 2"/>
          <p:cNvSpPr>
            <a:spLocks noGrp="1"/>
          </p:cNvSpPr>
          <p:nvPr>
            <p:ph idx="1"/>
          </p:nvPr>
        </p:nvSpPr>
        <p:spPr>
          <a:xfrm>
            <a:off x="457200" y="838200"/>
            <a:ext cx="8229600" cy="5486400"/>
          </a:xfrm>
        </p:spPr>
        <p:txBody>
          <a:bodyPr/>
          <a:lstStyle/>
          <a:p>
            <a:r>
              <a:rPr lang="en-US" dirty="0" smtClean="0">
                <a:latin typeface="+mj-lt"/>
              </a:rPr>
              <a:t>4</a:t>
            </a:r>
            <a:r>
              <a:rPr lang="en-US" dirty="0" smtClean="0"/>
              <a:t>. Sporangia- The nuclei of each sporangium undergo </a:t>
            </a:r>
            <a:r>
              <a:rPr lang="en-US" dirty="0" smtClean="0">
                <a:latin typeface="+mj-lt"/>
              </a:rPr>
              <a:t>further</a:t>
            </a:r>
            <a:r>
              <a:rPr lang="en-US" dirty="0" smtClean="0"/>
              <a:t> mitotic divisions to form </a:t>
            </a:r>
            <a:r>
              <a:rPr lang="en-US" dirty="0" smtClean="0">
                <a:latin typeface="+mj-lt"/>
              </a:rPr>
              <a:t>200 to 300 daughter nuclei. Now each nucleus with its surrounding cytoplasm becomes metamorphosed into </a:t>
            </a:r>
            <a:r>
              <a:rPr lang="en-US" dirty="0" err="1" smtClean="0">
                <a:latin typeface="+mj-lt"/>
              </a:rPr>
              <a:t>posteriorly</a:t>
            </a:r>
            <a:r>
              <a:rPr lang="en-US" dirty="0" smtClean="0">
                <a:latin typeface="+mj-lt"/>
              </a:rPr>
              <a:t> uniflagellate zoospores. In this way about 1500 zoospores are produced from a single original zoospore which infected the tuber. The mature sporangia in the </a:t>
            </a:r>
            <a:r>
              <a:rPr lang="en-US" dirty="0" err="1" smtClean="0">
                <a:latin typeface="+mj-lt"/>
              </a:rPr>
              <a:t>sorus</a:t>
            </a:r>
            <a:r>
              <a:rPr lang="en-US" dirty="0" smtClean="0">
                <a:latin typeface="+mj-lt"/>
              </a:rPr>
              <a:t> absorb water, swell and exert pressure rupturing host cell wall and vesicle membrane. The zoospores came out through ruptured sporangial wall, swim in a film of water in the soil. Some of these may </a:t>
            </a:r>
            <a:r>
              <a:rPr lang="en-US" dirty="0" err="1" smtClean="0">
                <a:latin typeface="+mj-lt"/>
              </a:rPr>
              <a:t>reinfect</a:t>
            </a:r>
            <a:r>
              <a:rPr lang="en-US" dirty="0" smtClean="0">
                <a:latin typeface="+mj-lt"/>
              </a:rPr>
              <a:t> the host and repeat the sequence outlined above. </a:t>
            </a:r>
            <a:r>
              <a:rPr lang="en-US" dirty="0" err="1" smtClean="0">
                <a:latin typeface="+mj-lt"/>
              </a:rPr>
              <a:t>Tis</a:t>
            </a:r>
            <a:r>
              <a:rPr lang="en-US" dirty="0" smtClean="0">
                <a:latin typeface="+mj-lt"/>
              </a:rPr>
              <a:t> completes the asexual phase in the Life-cycle of </a:t>
            </a:r>
            <a:r>
              <a:rPr lang="en-US" dirty="0" err="1" smtClean="0">
                <a:latin typeface="+mj-lt"/>
              </a:rPr>
              <a:t>Synchytrium</a:t>
            </a:r>
            <a:r>
              <a:rPr lang="en-US" dirty="0" smtClean="0">
                <a:latin typeface="+mj-lt"/>
              </a:rPr>
              <a:t>.</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Sexual phase                                 13</a:t>
            </a:r>
            <a:endParaRPr lang="en-US" dirty="0"/>
          </a:p>
        </p:txBody>
      </p:sp>
      <p:pic>
        <p:nvPicPr>
          <p:cNvPr id="21506" name="Picture 2" descr="Synchytrium Endobioticum: Symptoms and Thallus Structure | Disease"/>
          <p:cNvPicPr>
            <a:picLocks noChangeAspect="1" noChangeArrowheads="1"/>
          </p:cNvPicPr>
          <p:nvPr/>
        </p:nvPicPr>
        <p:blipFill>
          <a:blip r:embed="rId2"/>
          <a:srcRect/>
          <a:stretch>
            <a:fillRect/>
          </a:stretch>
        </p:blipFill>
        <p:spPr bwMode="auto">
          <a:xfrm>
            <a:off x="914400" y="838200"/>
            <a:ext cx="7315200" cy="5562601"/>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US" dirty="0" smtClean="0"/>
              <a:t>   Life- cycle        </a:t>
            </a:r>
            <a:r>
              <a:rPr lang="en-US" dirty="0" smtClean="0"/>
              <a:t> </a:t>
            </a:r>
            <a:r>
              <a:rPr lang="en-US" sz="3600" dirty="0" smtClean="0"/>
              <a:t>Sexual phage </a:t>
            </a:r>
            <a:r>
              <a:rPr lang="en-US" sz="3600" dirty="0" smtClean="0"/>
              <a:t>    14</a:t>
            </a:r>
            <a:endParaRPr lang="en-US" dirty="0"/>
          </a:p>
        </p:txBody>
      </p:sp>
      <p:sp>
        <p:nvSpPr>
          <p:cNvPr id="3" name="Content Placeholder 2"/>
          <p:cNvSpPr>
            <a:spLocks noGrp="1"/>
          </p:cNvSpPr>
          <p:nvPr>
            <p:ph idx="1"/>
          </p:nvPr>
        </p:nvSpPr>
        <p:spPr>
          <a:xfrm>
            <a:off x="457200" y="1066800"/>
            <a:ext cx="8229600" cy="5257800"/>
          </a:xfrm>
        </p:spPr>
        <p:txBody>
          <a:bodyPr>
            <a:normAutofit fontScale="85000" lnSpcReduction="20000"/>
          </a:bodyPr>
          <a:lstStyle/>
          <a:p>
            <a:r>
              <a:rPr lang="en-US" dirty="0" smtClean="0">
                <a:latin typeface="+mj-lt"/>
              </a:rPr>
              <a:t>1.</a:t>
            </a:r>
            <a:r>
              <a:rPr lang="en-US" b="1" dirty="0" smtClean="0"/>
              <a:t>Gametangia</a:t>
            </a:r>
            <a:r>
              <a:rPr lang="en-US" dirty="0" smtClean="0"/>
              <a:t>-</a:t>
            </a:r>
            <a:r>
              <a:rPr lang="en-US" dirty="0" smtClean="0">
                <a:latin typeface="+mj-lt"/>
              </a:rPr>
              <a:t> Under conditions of scarcity of water (dry weather) , the segments of </a:t>
            </a:r>
            <a:r>
              <a:rPr lang="en-US" dirty="0" err="1" smtClean="0">
                <a:latin typeface="+mj-lt"/>
              </a:rPr>
              <a:t>prosorus</a:t>
            </a:r>
            <a:r>
              <a:rPr lang="en-US" dirty="0" smtClean="0">
                <a:latin typeface="+mj-lt"/>
              </a:rPr>
              <a:t> function as </a:t>
            </a:r>
            <a:r>
              <a:rPr lang="en-US" b="1" dirty="0" err="1" smtClean="0">
                <a:latin typeface="+mj-lt"/>
              </a:rPr>
              <a:t>Gametangia</a:t>
            </a:r>
            <a:r>
              <a:rPr lang="en-US" b="1" dirty="0" smtClean="0">
                <a:latin typeface="+mj-lt"/>
              </a:rPr>
              <a:t>. </a:t>
            </a:r>
            <a:r>
              <a:rPr lang="en-US" dirty="0" smtClean="0">
                <a:latin typeface="+mj-lt"/>
              </a:rPr>
              <a:t>The </a:t>
            </a:r>
            <a:r>
              <a:rPr lang="en-US" dirty="0" err="1" smtClean="0">
                <a:latin typeface="+mj-lt"/>
              </a:rPr>
              <a:t>gametangia</a:t>
            </a:r>
            <a:r>
              <a:rPr lang="en-US" dirty="0" smtClean="0">
                <a:latin typeface="+mj-lt"/>
              </a:rPr>
              <a:t> produce </a:t>
            </a:r>
            <a:r>
              <a:rPr lang="en-US" b="1" dirty="0" err="1" smtClean="0">
                <a:latin typeface="+mj-lt"/>
              </a:rPr>
              <a:t>Planogametes</a:t>
            </a:r>
            <a:r>
              <a:rPr lang="en-US" b="1" dirty="0" smtClean="0">
                <a:latin typeface="+mj-lt"/>
              </a:rPr>
              <a:t> </a:t>
            </a:r>
            <a:r>
              <a:rPr lang="en-US" dirty="0" smtClean="0">
                <a:latin typeface="+mj-lt"/>
              </a:rPr>
              <a:t>similar to zoospore. The gametes are smaller than zoospores and fuse in </a:t>
            </a:r>
            <a:r>
              <a:rPr lang="en-US" dirty="0" err="1" smtClean="0">
                <a:latin typeface="+mj-lt"/>
              </a:rPr>
              <a:t>pairs.Fusion</a:t>
            </a:r>
            <a:r>
              <a:rPr lang="en-US" dirty="0" smtClean="0">
                <a:latin typeface="+mj-lt"/>
              </a:rPr>
              <a:t> occurs between </a:t>
            </a:r>
            <a:r>
              <a:rPr lang="en-US" dirty="0" err="1" smtClean="0">
                <a:latin typeface="+mj-lt"/>
              </a:rPr>
              <a:t>planogametes</a:t>
            </a:r>
            <a:r>
              <a:rPr lang="en-US" dirty="0" smtClean="0">
                <a:latin typeface="+mj-lt"/>
              </a:rPr>
              <a:t> of different </a:t>
            </a:r>
            <a:r>
              <a:rPr lang="en-US" dirty="0" err="1" smtClean="0">
                <a:latin typeface="+mj-lt"/>
              </a:rPr>
              <a:t>gametangia</a:t>
            </a:r>
            <a:r>
              <a:rPr lang="en-US" dirty="0" smtClean="0">
                <a:latin typeface="+mj-lt"/>
              </a:rPr>
              <a:t> in the same </a:t>
            </a:r>
            <a:r>
              <a:rPr lang="en-US" dirty="0" err="1" smtClean="0">
                <a:latin typeface="+mj-lt"/>
              </a:rPr>
              <a:t>sorus.Plasmogamy</a:t>
            </a:r>
            <a:r>
              <a:rPr lang="en-US" dirty="0" smtClean="0">
                <a:latin typeface="+mj-lt"/>
              </a:rPr>
              <a:t> is followed by </a:t>
            </a:r>
            <a:r>
              <a:rPr lang="en-US" dirty="0" err="1" smtClean="0">
                <a:latin typeface="+mj-lt"/>
              </a:rPr>
              <a:t>karyogamy</a:t>
            </a:r>
            <a:r>
              <a:rPr lang="en-US" dirty="0" smtClean="0">
                <a:latin typeface="+mj-lt"/>
              </a:rPr>
              <a:t>.</a:t>
            </a:r>
          </a:p>
          <a:p>
            <a:r>
              <a:rPr lang="en-US" dirty="0" smtClean="0">
                <a:latin typeface="+mj-lt"/>
              </a:rPr>
              <a:t>2.</a:t>
            </a:r>
            <a:r>
              <a:rPr lang="en-US" b="1" dirty="0" smtClean="0">
                <a:latin typeface="+mj-lt"/>
              </a:rPr>
              <a:t>Zygote-</a:t>
            </a:r>
            <a:r>
              <a:rPr lang="en-US" dirty="0" smtClean="0">
                <a:latin typeface="+mj-lt"/>
              </a:rPr>
              <a:t> The diploid zygote formed by the fusion of </a:t>
            </a:r>
            <a:r>
              <a:rPr lang="en-US" dirty="0" err="1" smtClean="0">
                <a:latin typeface="+mj-lt"/>
              </a:rPr>
              <a:t>planogametes</a:t>
            </a:r>
            <a:r>
              <a:rPr lang="en-US" dirty="0" smtClean="0">
                <a:latin typeface="+mj-lt"/>
              </a:rPr>
              <a:t> is biflagellate. It swims in film of water in the soil, come in contact with host, withdraw flagella, pierces cuticle and the wall of epidermal cell with peg like germ tube and sinks to the bottom of the infected </a:t>
            </a:r>
            <a:r>
              <a:rPr lang="en-US" dirty="0" err="1" smtClean="0">
                <a:latin typeface="+mj-lt"/>
              </a:rPr>
              <a:t>hypertriphied</a:t>
            </a:r>
            <a:r>
              <a:rPr lang="en-US" dirty="0" smtClean="0">
                <a:latin typeface="+mj-lt"/>
              </a:rPr>
              <a:t> epidermal </a:t>
            </a:r>
            <a:r>
              <a:rPr lang="en-US" dirty="0" err="1" smtClean="0">
                <a:latin typeface="+mj-lt"/>
              </a:rPr>
              <a:t>cellof</a:t>
            </a:r>
            <a:r>
              <a:rPr lang="en-US" dirty="0" smtClean="0">
                <a:latin typeface="+mj-lt"/>
              </a:rPr>
              <a:t> the host and grow in size.</a:t>
            </a:r>
          </a:p>
          <a:p>
            <a:r>
              <a:rPr lang="en-US" dirty="0" smtClean="0">
                <a:latin typeface="+mj-lt"/>
              </a:rPr>
              <a:t>3.</a:t>
            </a:r>
            <a:r>
              <a:rPr lang="en-US" b="1" dirty="0" smtClean="0">
                <a:latin typeface="+mj-lt"/>
              </a:rPr>
              <a:t>Resting Sporangium- </a:t>
            </a:r>
            <a:r>
              <a:rPr lang="en-US" dirty="0" smtClean="0">
                <a:latin typeface="+mj-lt"/>
              </a:rPr>
              <a:t>The presence of zygote in the host stimulates  to divide repeatedly the surrounding </a:t>
            </a:r>
            <a:r>
              <a:rPr lang="en-US" dirty="0" err="1" smtClean="0">
                <a:latin typeface="+mj-lt"/>
              </a:rPr>
              <a:t>cells.The</a:t>
            </a:r>
            <a:r>
              <a:rPr lang="en-US" dirty="0" smtClean="0">
                <a:latin typeface="+mj-lt"/>
              </a:rPr>
              <a:t> diploid zygote(parasite) enlarges  and is enclosed in a thick , </a:t>
            </a:r>
            <a:r>
              <a:rPr lang="en-US" dirty="0" err="1" smtClean="0">
                <a:latin typeface="+mj-lt"/>
              </a:rPr>
              <a:t>ornamanted,two</a:t>
            </a:r>
            <a:r>
              <a:rPr lang="en-US" dirty="0" smtClean="0">
                <a:latin typeface="+mj-lt"/>
              </a:rPr>
              <a:t> layered wall to become </a:t>
            </a:r>
            <a:r>
              <a:rPr lang="en-US" b="1" dirty="0" smtClean="0">
                <a:latin typeface="+mj-lt"/>
              </a:rPr>
              <a:t>Resting Sporangium </a:t>
            </a:r>
            <a:r>
              <a:rPr lang="en-US" dirty="0" smtClean="0">
                <a:latin typeface="+mj-lt"/>
              </a:rPr>
              <a:t>or Winter spore. These are released into the soil by the decay of </a:t>
            </a:r>
            <a:endParaRPr lang="en-US" b="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normAutofit/>
          </a:bodyPr>
          <a:lstStyle/>
          <a:p>
            <a:r>
              <a:rPr lang="en-US" dirty="0" smtClean="0"/>
              <a:t>    Life- cycle  </a:t>
            </a:r>
            <a:r>
              <a:rPr lang="en-US" dirty="0" smtClean="0"/>
              <a:t> </a:t>
            </a:r>
            <a:r>
              <a:rPr lang="en-US" sz="3600" dirty="0" smtClean="0"/>
              <a:t>Sexual phage(Contd.) </a:t>
            </a:r>
            <a:r>
              <a:rPr lang="en-US" sz="3600" dirty="0" smtClean="0"/>
              <a:t>15</a:t>
            </a:r>
            <a:endParaRPr lang="en-US" dirty="0"/>
          </a:p>
        </p:txBody>
      </p:sp>
      <p:sp>
        <p:nvSpPr>
          <p:cNvPr id="3" name="Content Placeholder 2"/>
          <p:cNvSpPr>
            <a:spLocks noGrp="1"/>
          </p:cNvSpPr>
          <p:nvPr>
            <p:ph idx="1"/>
          </p:nvPr>
        </p:nvSpPr>
        <p:spPr>
          <a:xfrm>
            <a:off x="457200" y="1219200"/>
            <a:ext cx="8229600" cy="5105400"/>
          </a:xfrm>
        </p:spPr>
        <p:txBody>
          <a:bodyPr/>
          <a:lstStyle/>
          <a:p>
            <a:r>
              <a:rPr lang="en-US" dirty="0" smtClean="0"/>
              <a:t>the infected tubers. In the soil they remain dormant though winter and can remain viable for more than </a:t>
            </a:r>
            <a:r>
              <a:rPr lang="en-US" dirty="0" smtClean="0">
                <a:latin typeface="+mj-lt"/>
              </a:rPr>
              <a:t>5 years (Sharma and Commack 1976).</a:t>
            </a:r>
          </a:p>
          <a:p>
            <a:r>
              <a:rPr lang="en-US" b="1" dirty="0" smtClean="0">
                <a:latin typeface="+mj-lt"/>
              </a:rPr>
              <a:t>4.Germination of Resting Sporangium- </a:t>
            </a:r>
            <a:r>
              <a:rPr lang="en-US" dirty="0" smtClean="0">
                <a:latin typeface="+mj-lt"/>
              </a:rPr>
              <a:t>It germinates, first divides by Meiosis division, then divide and </a:t>
            </a:r>
            <a:r>
              <a:rPr lang="en-US" dirty="0" err="1" smtClean="0">
                <a:latin typeface="+mj-lt"/>
              </a:rPr>
              <a:t>redivide</a:t>
            </a:r>
            <a:r>
              <a:rPr lang="en-US" dirty="0" smtClean="0">
                <a:latin typeface="+mj-lt"/>
              </a:rPr>
              <a:t> by Mitosis forming so many haploid Nuclei. Each nucleus with surrounding cleavage protoplasts metamorphoses into </a:t>
            </a:r>
            <a:r>
              <a:rPr lang="en-US" dirty="0" err="1" smtClean="0">
                <a:latin typeface="+mj-lt"/>
              </a:rPr>
              <a:t>posteriorly</a:t>
            </a:r>
            <a:r>
              <a:rPr lang="en-US" dirty="0" smtClean="0">
                <a:latin typeface="+mj-lt"/>
              </a:rPr>
              <a:t> </a:t>
            </a:r>
            <a:r>
              <a:rPr lang="en-US" dirty="0" err="1" smtClean="0">
                <a:latin typeface="+mj-lt"/>
              </a:rPr>
              <a:t>uniflagellate</a:t>
            </a:r>
            <a:r>
              <a:rPr lang="en-US" dirty="0" smtClean="0">
                <a:latin typeface="+mj-lt"/>
              </a:rPr>
              <a:t> </a:t>
            </a:r>
            <a:r>
              <a:rPr lang="en-US" b="1" dirty="0" smtClean="0">
                <a:latin typeface="+mj-lt"/>
              </a:rPr>
              <a:t>Zoospores. </a:t>
            </a:r>
            <a:r>
              <a:rPr lang="en-US" dirty="0" smtClean="0">
                <a:latin typeface="+mj-lt"/>
              </a:rPr>
              <a:t>The outer layer of sporangial wall ruptures the </a:t>
            </a:r>
            <a:r>
              <a:rPr lang="en-US" dirty="0" err="1" smtClean="0">
                <a:latin typeface="+mj-lt"/>
              </a:rPr>
              <a:t>zoopores</a:t>
            </a:r>
            <a:r>
              <a:rPr lang="en-US" dirty="0" smtClean="0">
                <a:latin typeface="+mj-lt"/>
              </a:rPr>
              <a:t> released outside. These zoospores are larger in size than Asexual cycle. They may infect the host to repeat the Asexual phase.</a:t>
            </a:r>
          </a:p>
          <a:p>
            <a:r>
              <a:rPr lang="en-US" b="1" dirty="0" smtClean="0">
                <a:latin typeface="+mj-lt"/>
              </a:rPr>
              <a:t>In this way Life-Cycle completed.</a:t>
            </a:r>
            <a:endParaRPr lang="en-US" b="1" dirty="0">
              <a:latin typeface="+mj-lt"/>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fontScale="90000"/>
          </a:bodyPr>
          <a:lstStyle/>
          <a:p>
            <a:r>
              <a:rPr lang="en-US" dirty="0" smtClean="0"/>
              <a:t>LIFE-CYCLE                                      16 </a:t>
            </a:r>
            <a:endParaRPr lang="en-US" dirty="0"/>
          </a:p>
        </p:txBody>
      </p:sp>
      <p:pic>
        <p:nvPicPr>
          <p:cNvPr id="4" name="Content Placeholder 3" descr="Phylogenetic Relationships of Phycomycetes"/>
          <p:cNvPicPr>
            <a:picLocks noGrp="1"/>
          </p:cNvPicPr>
          <p:nvPr>
            <p:ph idx="1"/>
          </p:nvPr>
        </p:nvPicPr>
        <p:blipFill>
          <a:blip r:embed="rId2"/>
          <a:stretch>
            <a:fillRect/>
          </a:stretch>
        </p:blipFill>
        <p:spPr bwMode="auto">
          <a:xfrm>
            <a:off x="2209800" y="609600"/>
            <a:ext cx="4800600" cy="609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dirty="0" smtClean="0"/>
              <a:t>CONTROL                                17</a:t>
            </a:r>
            <a:endParaRPr lang="en-US" dirty="0"/>
          </a:p>
        </p:txBody>
      </p:sp>
      <p:sp>
        <p:nvSpPr>
          <p:cNvPr id="3" name="Content Placeholder 2"/>
          <p:cNvSpPr>
            <a:spLocks noGrp="1"/>
          </p:cNvSpPr>
          <p:nvPr>
            <p:ph idx="1"/>
          </p:nvPr>
        </p:nvSpPr>
        <p:spPr>
          <a:xfrm>
            <a:off x="457200" y="1143000"/>
            <a:ext cx="8229600" cy="5181600"/>
          </a:xfrm>
        </p:spPr>
        <p:txBody>
          <a:bodyPr/>
          <a:lstStyle/>
          <a:p>
            <a:r>
              <a:rPr lang="en-US" dirty="0" smtClean="0">
                <a:latin typeface="+mj-lt"/>
              </a:rPr>
              <a:t>1. To reduce spread of the pathogen, </a:t>
            </a:r>
            <a:r>
              <a:rPr lang="en-US" b="1" dirty="0" smtClean="0">
                <a:latin typeface="+mj-lt"/>
              </a:rPr>
              <a:t>Quarantine regulations</a:t>
            </a:r>
            <a:r>
              <a:rPr lang="en-US" dirty="0" smtClean="0">
                <a:latin typeface="+mj-lt"/>
              </a:rPr>
              <a:t> are </a:t>
            </a:r>
            <a:r>
              <a:rPr lang="en-US" dirty="0" err="1" smtClean="0">
                <a:latin typeface="+mj-lt"/>
              </a:rPr>
              <a:t>practicised</a:t>
            </a:r>
            <a:r>
              <a:rPr lang="en-US" dirty="0" smtClean="0">
                <a:latin typeface="+mj-lt"/>
              </a:rPr>
              <a:t>. In India, the entry of potatoes from Darjeeling Hills, where wart disease is known to occur, has been prohibited.</a:t>
            </a:r>
          </a:p>
          <a:p>
            <a:r>
              <a:rPr lang="en-US" dirty="0" smtClean="0">
                <a:latin typeface="+mj-lt"/>
              </a:rPr>
              <a:t>2.A number of varieties which are immune to this disease had been produced in recent years. </a:t>
            </a:r>
            <a:r>
              <a:rPr lang="en-US" b="1" dirty="0" smtClean="0">
                <a:latin typeface="+mj-lt"/>
              </a:rPr>
              <a:t>Use of Resistant varieties</a:t>
            </a:r>
            <a:r>
              <a:rPr lang="en-US" dirty="0" smtClean="0">
                <a:latin typeface="+mj-lt"/>
              </a:rPr>
              <a:t> had considerably prevented spread of disease. </a:t>
            </a:r>
            <a:r>
              <a:rPr lang="en-US" smtClean="0">
                <a:latin typeface="+mj-lt"/>
              </a:rPr>
              <a:t>For example- Maris piper, </a:t>
            </a:r>
            <a:endParaRPr lang="en-US" dirty="0" smtClean="0">
              <a:latin typeface="+mj-lt"/>
            </a:endParaRPr>
          </a:p>
          <a:p>
            <a:r>
              <a:rPr lang="en-US" dirty="0" smtClean="0">
                <a:latin typeface="+mj-lt"/>
              </a:rPr>
              <a:t>3.The application of </a:t>
            </a:r>
            <a:r>
              <a:rPr lang="en-US" b="1" dirty="0" smtClean="0">
                <a:latin typeface="+mj-lt"/>
              </a:rPr>
              <a:t>LIME</a:t>
            </a:r>
            <a:r>
              <a:rPr lang="en-US" dirty="0" smtClean="0">
                <a:latin typeface="+mj-lt"/>
              </a:rPr>
              <a:t> and use of </a:t>
            </a:r>
            <a:r>
              <a:rPr lang="en-US" b="1" dirty="0" smtClean="0">
                <a:latin typeface="+mj-lt"/>
              </a:rPr>
              <a:t>FUNGICIDES </a:t>
            </a:r>
            <a:r>
              <a:rPr lang="en-US" dirty="0" smtClean="0">
                <a:latin typeface="+mj-lt"/>
              </a:rPr>
              <a:t>in the soil before planting have also given some useful results.</a:t>
            </a:r>
            <a:endParaRPr lang="en-US" b="1" dirty="0" smtClean="0">
              <a:latin typeface="+mj-lt"/>
            </a:endParaRPr>
          </a:p>
          <a:p>
            <a:endParaRPr lang="en-US" dirty="0">
              <a:latin typeface="+mj-l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6400800" cy="1828800"/>
          </a:xfrm>
        </p:spPr>
        <p:txBody>
          <a:bodyPr/>
          <a:lstStyle/>
          <a:p>
            <a:r>
              <a:rPr lang="en-US" dirty="0" smtClean="0"/>
              <a:t>     THANK YOU                        </a:t>
            </a:r>
            <a:endParaRPr lang="en-US" dirty="0"/>
          </a:p>
        </p:txBody>
      </p:sp>
      <p:sp>
        <p:nvSpPr>
          <p:cNvPr id="3" name="Subtitle 2"/>
          <p:cNvSpPr>
            <a:spLocks noGrp="1"/>
          </p:cNvSpPr>
          <p:nvPr>
            <p:ph type="subTitle" idx="1"/>
          </p:nvPr>
        </p:nvSpPr>
        <p:spPr>
          <a:xfrm>
            <a:off x="914400" y="3352800"/>
            <a:ext cx="5943600" cy="1475936"/>
          </a:xfrm>
        </p:spPr>
        <p:txBody>
          <a:bodyPr/>
          <a:lstStyle/>
          <a:p>
            <a:r>
              <a:rPr lang="en-US" dirty="0" smtClean="0"/>
              <a:t>  Everyone</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380</TotalTime>
  <Words>1163</Words>
  <Application>Microsoft Office PowerPoint</Application>
  <PresentationFormat>On-screen Show (4:3)</PresentationFormat>
  <Paragraphs>67</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Flow</vt:lpstr>
      <vt:lpstr>DR.NAMITA KUMARI Associate Professor Department of Botany Magadh Mahila College Patna University, Patna dr.namitakumari@gmail.com Mobile no 9472938409 April 2020 </vt:lpstr>
      <vt:lpstr>WART DISEASE OF POTAO                     Caused by Synchytrium  endobioticum</vt:lpstr>
      <vt:lpstr>Contents                                           1</vt:lpstr>
      <vt:lpstr>INTRODUCTION                                 2</vt:lpstr>
      <vt:lpstr>Classification                                      3</vt:lpstr>
      <vt:lpstr>Symptoms:-                                      4</vt:lpstr>
      <vt:lpstr>Slide 7</vt:lpstr>
      <vt:lpstr>Infected Potato Tubers showing Wart infections.                               6</vt:lpstr>
      <vt:lpstr>T.S. of potato tuber through warty portions showing Resting sporngium( brown coloured) and adjacent multiplied cells.                                                                   7</vt:lpstr>
      <vt:lpstr>Somatic structure                            8                                   </vt:lpstr>
      <vt:lpstr>Life-cycle.                                         9</vt:lpstr>
      <vt:lpstr>ASEXUAL REPRODUCTION          10</vt:lpstr>
      <vt:lpstr>Life- cycle         Asexual phage (contd)    11</vt:lpstr>
      <vt:lpstr>Life- cycle   Asexual phage (contd)        12</vt:lpstr>
      <vt:lpstr>Sexual phase                                 13</vt:lpstr>
      <vt:lpstr>   Life- cycle         Sexual phage     14</vt:lpstr>
      <vt:lpstr>    Life- cycle   Sexual phage(Contd.) 15</vt:lpstr>
      <vt:lpstr>LIFE-CYCLE                                      16 </vt:lpstr>
      <vt:lpstr>CONTROL                                17</vt:lpstr>
      <vt:lpstr>     THANK YOU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44</cp:revision>
  <dcterms:created xsi:type="dcterms:W3CDTF">2006-08-16T00:00:00Z</dcterms:created>
  <dcterms:modified xsi:type="dcterms:W3CDTF">2020-04-15T11:14:27Z</dcterms:modified>
</cp:coreProperties>
</file>