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4296" r:id="rId1"/>
  </p:sldMasterIdLst>
  <p:sldIdLst>
    <p:sldId id="259" r:id="rId2"/>
    <p:sldId id="286" r:id="rId3"/>
    <p:sldId id="328" r:id="rId4"/>
    <p:sldId id="304" r:id="rId5"/>
    <p:sldId id="330" r:id="rId6"/>
    <p:sldId id="318" r:id="rId7"/>
    <p:sldId id="331" r:id="rId8"/>
    <p:sldId id="332" r:id="rId9"/>
    <p:sldId id="333" r:id="rId10"/>
    <p:sldId id="31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4" d="100"/>
          <a:sy n="94" d="100"/>
        </p:scale>
        <p:origin x="-2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BB1F50-E669-4CE1-927D-9E77E616B05B}" type="datetimeFigureOut">
              <a:rPr lang="en-US" smtClean="0"/>
              <a:pPr/>
              <a:t>22-May-20</a:t>
            </a:fld>
            <a:endParaRPr lang="en-IN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587706-8884-4031-8C80-F7BC4B2820AE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BB1F50-E669-4CE1-927D-9E77E616B05B}" type="datetimeFigureOut">
              <a:rPr lang="en-US" smtClean="0"/>
              <a:pPr/>
              <a:t>22-May-20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587706-8884-4031-8C80-F7BC4B2820A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BB1F50-E669-4CE1-927D-9E77E616B05B}" type="datetimeFigureOut">
              <a:rPr lang="en-US" smtClean="0"/>
              <a:pPr/>
              <a:t>22-May-20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587706-8884-4031-8C80-F7BC4B2820AE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BB1F50-E669-4CE1-927D-9E77E616B05B}" type="datetimeFigureOut">
              <a:rPr lang="en-US" smtClean="0"/>
              <a:pPr/>
              <a:t>22-May-20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587706-8884-4031-8C80-F7BC4B2820A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BB1F50-E669-4CE1-927D-9E77E616B05B}" type="datetimeFigureOut">
              <a:rPr lang="en-US" smtClean="0"/>
              <a:pPr/>
              <a:t>22-May-20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587706-8884-4031-8C80-F7BC4B2820A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BB1F50-E669-4CE1-927D-9E77E616B05B}" type="datetimeFigureOut">
              <a:rPr lang="en-US" smtClean="0"/>
              <a:pPr/>
              <a:t>22-May-20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587706-8884-4031-8C80-F7BC4B2820A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BB1F50-E669-4CE1-927D-9E77E616B05B}" type="datetimeFigureOut">
              <a:rPr lang="en-US" smtClean="0"/>
              <a:pPr/>
              <a:t>22-May-20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587706-8884-4031-8C80-F7BC4B2820AE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BB1F50-E669-4CE1-927D-9E77E616B05B}" type="datetimeFigureOut">
              <a:rPr lang="en-US" smtClean="0"/>
              <a:pPr/>
              <a:t>22-May-20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587706-8884-4031-8C80-F7BC4B2820A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BB1F50-E669-4CE1-927D-9E77E616B05B}" type="datetimeFigureOut">
              <a:rPr lang="en-US" smtClean="0"/>
              <a:pPr/>
              <a:t>22-May-20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587706-8884-4031-8C80-F7BC4B2820AE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BB1F50-E669-4CE1-927D-9E77E616B05B}" type="datetimeFigureOut">
              <a:rPr lang="en-US" smtClean="0"/>
              <a:pPr/>
              <a:t>22-May-20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587706-8884-4031-8C80-F7BC4B2820A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BB1F50-E669-4CE1-927D-9E77E616B05B}" type="datetimeFigureOut">
              <a:rPr lang="en-US" smtClean="0"/>
              <a:pPr/>
              <a:t>22-May-20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587706-8884-4031-8C80-F7BC4B2820A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22BB1F50-E669-4CE1-927D-9E77E616B05B}" type="datetimeFigureOut">
              <a:rPr lang="en-US" smtClean="0"/>
              <a:pPr/>
              <a:t>22-May-20</a:t>
            </a:fld>
            <a:endParaRPr lang="en-IN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F1587706-8884-4031-8C80-F7BC4B2820AE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vijay.rajni3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m.wikipedia.org/" TargetMode="External"/><Relationship Id="rId2" Type="http://schemas.openxmlformats.org/officeDocument/2006/relationships/hyperlink" Target="http://www.wikipedia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sro.gov.in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764704"/>
            <a:ext cx="7995410" cy="216024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latin typeface="Calibri" pitchFamily="34" charset="0"/>
                <a:cs typeface="Calibri" pitchFamily="34" charset="0"/>
              </a:rPr>
            </a:br>
            <a:r>
              <a:rPr lang="en-US" sz="4000" dirty="0" smtClean="0"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latin typeface="Calibri" pitchFamily="34" charset="0"/>
                <a:cs typeface="Calibri" pitchFamily="34" charset="0"/>
              </a:rPr>
            </a:br>
            <a:r>
              <a:rPr lang="en-US" sz="4000" dirty="0" smtClean="0"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latin typeface="Calibri" pitchFamily="34" charset="0"/>
                <a:cs typeface="Calibri" pitchFamily="34" charset="0"/>
              </a:rPr>
            </a:br>
            <a:r>
              <a:rPr lang="en-US" sz="4000" dirty="0" smtClean="0"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latin typeface="Calibri" pitchFamily="34" charset="0"/>
                <a:cs typeface="Calibri" pitchFamily="34" charset="0"/>
              </a:rPr>
            </a:b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Satellite Communication</a:t>
            </a:r>
            <a:r>
              <a:rPr lang="en-US" sz="4400" dirty="0" smtClean="0">
                <a:solidFill>
                  <a:schemeClr val="accent1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/>
            </a:r>
            <a:br>
              <a:rPr lang="en-US" sz="4400" dirty="0" smtClean="0">
                <a:solidFill>
                  <a:schemeClr val="accent1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</a:br>
            <a:r>
              <a:rPr lang="en-US" sz="3100" dirty="0" smtClean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Course</a:t>
            </a:r>
            <a:r>
              <a:rPr lang="en-US" sz="3100" dirty="0" smtClean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: </a:t>
            </a:r>
            <a:r>
              <a:rPr lang="en-US" sz="3100" dirty="0" smtClean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MHOMCC-8</a:t>
            </a:r>
            <a:r>
              <a:rPr lang="en-US" sz="4000" i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4000" i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</a:br>
            <a:r>
              <a:rPr lang="en-IN" sz="20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IN" sz="20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</a:br>
            <a:endParaRPr lang="en-IN" sz="20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5918" y="3643314"/>
            <a:ext cx="5591544" cy="2882030"/>
          </a:xfrm>
        </p:spPr>
        <p:txBody>
          <a:bodyPr>
            <a:normAutofit lnSpcReduction="10000"/>
          </a:bodyPr>
          <a:lstStyle/>
          <a:p>
            <a:pPr algn="ctr"/>
            <a:endParaRPr lang="en-US" sz="2000" b="1" i="1" dirty="0" smtClean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endParaRPr lang="en-US" sz="2000" b="1" i="1" dirty="0" smtClean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 Rajni Pandey </a:t>
            </a: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Assistant Professor</a:t>
            </a: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MMC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, Patna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University</a:t>
            </a: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vijay.rajni3@gmail.com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000" b="1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9837316268</a:t>
            </a:r>
          </a:p>
          <a:p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 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algn="ctr"/>
            <a:endParaRPr lang="en-IN" sz="2000" dirty="0" smtClean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endParaRPr lang="en-IN" sz="20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8229600" cy="510334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40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dirty="0" smtClean="0"/>
              <a:t>	</a:t>
            </a:r>
            <a:endParaRPr lang="en-IN" sz="2200" dirty="0" smtClean="0"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28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 satellite communications is an artificial satellite that relays and amplifies radio telecommunication signals via a transponder; it creates a communication channel between a source transmitter and a receiver at different locations on Earth.</a:t>
            </a:r>
            <a:endParaRPr lang="en-IN" sz="2800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704088"/>
            <a:ext cx="7499176" cy="79608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Working principle of satellite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3648" y="1935480"/>
            <a:ext cx="7128792" cy="306515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fundamental  principle to be understood concerning satellites is that a satellite is a projectile. That is to say, a satellite is an object upon which the only force is gravity. Once launched into orbit, the only force governing the motion of a satellite is the force of gravity</a:t>
            </a:r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8229600" cy="1214446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Early Satellites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sz="40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endParaRPr lang="en-IN" sz="4000" b="1" dirty="0"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632" y="2132856"/>
            <a:ext cx="7416824" cy="3168352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In  October 1957,the first artificial satellite </a:t>
            </a:r>
            <a:r>
              <a:rPr lang="en-IN" sz="2800" b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Sputnik-1</a:t>
            </a:r>
            <a:r>
              <a:rPr lang="en-IN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was launched.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1963 Clark’s idea became a reality  when the first geosynchronous satellite </a:t>
            </a:r>
            <a:r>
              <a:rPr lang="en-IN" sz="2800" b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SYNCOM </a:t>
            </a:r>
            <a:r>
              <a:rPr lang="en-IN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was successfully launched by NASA.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India Launched the first satellite </a:t>
            </a:r>
            <a:r>
              <a:rPr lang="en-IN" sz="2800" b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ARYABHATTA</a:t>
            </a:r>
            <a:r>
              <a:rPr lang="en-IN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on April  19,1975</a:t>
            </a:r>
            <a:r>
              <a:rPr lang="en-IN" sz="28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. </a:t>
            </a:r>
            <a:endParaRPr lang="en-IN" sz="2800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07157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Types of Satellites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59632" y="1700808"/>
            <a:ext cx="6984776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Satellite are divided in four major categories</a:t>
            </a:r>
          </a:p>
          <a:p>
            <a:pPr algn="just"/>
            <a:r>
              <a:rPr lang="en-US" sz="2800" b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as follow</a:t>
            </a:r>
            <a:r>
              <a:rPr lang="en-US" sz="2800" b="1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:</a:t>
            </a:r>
          </a:p>
          <a:p>
            <a:pPr algn="just"/>
            <a:endParaRPr lang="en-US" sz="2800" b="1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Communication 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Satellite</a:t>
            </a:r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.</a:t>
            </a:r>
          </a:p>
          <a:p>
            <a:pPr marL="457200" indent="-457200" algn="just">
              <a:buFont typeface="Wingdings" pitchFamily="2" charset="2"/>
              <a:buChar char="Ø"/>
            </a:pPr>
            <a:endParaRPr lang="en-US" sz="2800" b="1" dirty="0">
              <a:solidFill>
                <a:srgbClr val="0070C0"/>
              </a:solidFill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Weather Satellite.</a:t>
            </a:r>
            <a:endParaRPr lang="en-US" sz="2800" b="1" dirty="0" smtClean="0">
              <a:solidFill>
                <a:srgbClr val="0070C0"/>
              </a:solidFill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Ø"/>
            </a:pPr>
            <a:endParaRPr lang="en-US" sz="2800" b="1" dirty="0">
              <a:solidFill>
                <a:srgbClr val="0070C0"/>
              </a:solidFill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Remote-sensing Satellite.</a:t>
            </a:r>
          </a:p>
          <a:p>
            <a:pPr algn="just"/>
            <a:endParaRPr lang="en-US" sz="2000" b="1" dirty="0">
              <a:solidFill>
                <a:srgbClr val="0070C0"/>
              </a:solidFill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Scientific Satellite</a:t>
            </a:r>
            <a:r>
              <a:rPr lang="en-US" sz="2000" b="1" dirty="0" smtClean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en-US" sz="2000" dirty="0">
              <a:solidFill>
                <a:srgbClr val="0070C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480"/>
            <a:ext cx="8229600" cy="71438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coverage area of a satellite greatly exceeds  that of a terrestrial </a:t>
            </a:r>
            <a:r>
              <a:rPr lang="en-US" sz="28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system.</a:t>
            </a:r>
            <a:endParaRPr lang="en-US" sz="2800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Transmission </a:t>
            </a:r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cost of a satellite is independent </a:t>
            </a:r>
            <a:r>
              <a:rPr lang="en-US" sz="28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of the </a:t>
            </a:r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distance from the </a:t>
            </a:r>
            <a:r>
              <a:rPr lang="en-US" sz="28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Centre  </a:t>
            </a:r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of </a:t>
            </a:r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coverage </a:t>
            </a:r>
            <a:r>
              <a:rPr lang="en-US" sz="28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area.</a:t>
            </a:r>
            <a:endParaRPr lang="en-US" sz="2800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Satellite </a:t>
            </a:r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to satellite communication is very </a:t>
            </a:r>
            <a:r>
              <a:rPr lang="en-US" sz="28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precise.</a:t>
            </a:r>
            <a:endParaRPr lang="en-US" sz="2800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Higher bandwidths are available for </a:t>
            </a:r>
            <a:r>
              <a:rPr lang="en-US" sz="28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use.</a:t>
            </a:r>
            <a:endParaRPr lang="en-US" sz="2800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71438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52736"/>
            <a:ext cx="7498080" cy="4800600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Launching satellites into orbits is </a:t>
            </a:r>
            <a:r>
              <a:rPr lang="en-US" sz="28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costly.</a:t>
            </a:r>
            <a:endParaRPr lang="en-US" sz="2800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Satellite bandwidth is gradually becoming used </a:t>
            </a:r>
            <a:r>
              <a:rPr lang="en-US" sz="28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up.</a:t>
            </a:r>
            <a:endParaRPr lang="en-US" sz="2800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There is larger propagation delay in satellite </a:t>
            </a:r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communication than </a:t>
            </a:r>
            <a:r>
              <a:rPr lang="en-US" sz="28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in terrestrial </a:t>
            </a:r>
            <a:r>
              <a:rPr lang="en-US" sz="28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communication.</a:t>
            </a:r>
            <a:endParaRPr lang="en-US" sz="2800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286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571480"/>
            <a:ext cx="7643192" cy="71438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Application of satellite communication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340768"/>
            <a:ext cx="7571184" cy="5328592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main application of satellite communication is in the field of </a:t>
            </a:r>
            <a:r>
              <a:rPr lang="en-US" sz="26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communication. The 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communication of video signals(TV), audio 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signals (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telephones, satellite phones) and computer data (internet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6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To gain meteorological or weather 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information. 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 photographs taken by the satellites are analyzed for predicting weather.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6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To monitor the status of earth’s resources such as land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, forests 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and oceans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.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We can get very important information about crops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, </a:t>
            </a:r>
            <a:r>
              <a:rPr lang="en-US" sz="26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lakes, rivers, 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forest </a:t>
            </a:r>
            <a:r>
              <a:rPr lang="en-US" sz="26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fires 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etc…</a:t>
            </a:r>
          </a:p>
          <a:p>
            <a:pPr algn="just">
              <a:buFont typeface="Wingdings" pitchFamily="2" charset="2"/>
              <a:buChar char="v"/>
            </a:pPr>
            <a:r>
              <a:rPr lang="en-US" sz="2600" dirty="0" smtClean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To spot our mineral resources, polluted areas, sources </a:t>
            </a:r>
            <a:r>
              <a:rPr lang="en-US" sz="2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of pollution etc…</a:t>
            </a:r>
            <a:endParaRPr lang="en-US" sz="2600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29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656" y="548680"/>
            <a:ext cx="8229600" cy="71438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772816"/>
            <a:ext cx="7509520" cy="4389120"/>
          </a:xfrm>
        </p:spPr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accent1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  <a:hlinkClick r:id="rId2"/>
              </a:rPr>
              <a:t>www.wikipedia.com</a:t>
            </a:r>
            <a:endParaRPr lang="en-US" sz="2000" dirty="0" smtClean="0">
              <a:solidFill>
                <a:schemeClr val="accent1"/>
              </a:solidFill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§"/>
            </a:pPr>
            <a:endParaRPr lang="en-US" sz="2000" dirty="0">
              <a:solidFill>
                <a:schemeClr val="accent1"/>
              </a:solidFill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accent1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  <a:hlinkClick r:id="rId3"/>
              </a:rPr>
              <a:t>https://en.m.wikipedia.org</a:t>
            </a:r>
            <a:endParaRPr lang="en-US" sz="2000" dirty="0" smtClean="0">
              <a:solidFill>
                <a:schemeClr val="accent1"/>
              </a:solidFill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§"/>
            </a:pPr>
            <a:endParaRPr lang="en-US" sz="2000" dirty="0" smtClean="0">
              <a:solidFill>
                <a:schemeClr val="accent1"/>
              </a:solidFill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accent1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  <a:hlinkClick r:id="rId4"/>
              </a:rPr>
              <a:t>https://www.isro.gov.in</a:t>
            </a:r>
            <a:endParaRPr lang="en-US" sz="2000" dirty="0" smtClean="0">
              <a:solidFill>
                <a:schemeClr val="accent1"/>
              </a:solidFill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marL="571500" indent="-571500" algn="ctr">
              <a:spcBef>
                <a:spcPct val="0"/>
              </a:spcBef>
              <a:buFont typeface="Wingdings" pitchFamily="2" charset="2"/>
              <a:buChar char="§"/>
            </a:pPr>
            <a:endParaRPr lang="en-US" sz="4000" b="1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95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2910" y="2500306"/>
            <a:ext cx="77867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solidFill>
                  <a:schemeClr val="accent2"/>
                </a:solidFill>
                <a:latin typeface="Algerian" pitchFamily="82" charset="0"/>
                <a:cs typeface="Aharoni" pitchFamily="2" charset="-79"/>
              </a:rPr>
              <a:t>			</a:t>
            </a:r>
            <a:endParaRPr lang="en-US" b="1" dirty="0" smtClean="0"/>
          </a:p>
        </p:txBody>
      </p:sp>
      <p:sp>
        <p:nvSpPr>
          <p:cNvPr id="4" name="Vertical Scroll 3"/>
          <p:cNvSpPr/>
          <p:nvPr/>
        </p:nvSpPr>
        <p:spPr>
          <a:xfrm>
            <a:off x="899592" y="1601872"/>
            <a:ext cx="7858180" cy="4214842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latin typeface="Algerian" pitchFamily="82" charset="0"/>
                <a:ea typeface="Verdana" pitchFamily="34" charset="0"/>
                <a:cs typeface="Times New Roman" pitchFamily="18" charset="0"/>
              </a:rPr>
              <a:t>Thanks </a:t>
            </a:r>
          </a:p>
          <a:p>
            <a:pPr algn="ctr"/>
            <a:endParaRPr lang="en-US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olstice">
    <a:dk1>
      <a:sysClr val="windowText" lastClr="000000"/>
    </a:dk1>
    <a:lt1>
      <a:sysClr val="window" lastClr="FFFFFF"/>
    </a:lt1>
    <a:dk2>
      <a:srgbClr val="4F271C"/>
    </a:dk2>
    <a:lt2>
      <a:srgbClr val="E7DEC9"/>
    </a:lt2>
    <a:accent1>
      <a:srgbClr val="3891A7"/>
    </a:accent1>
    <a:accent2>
      <a:srgbClr val="FEB80A"/>
    </a:accent2>
    <a:accent3>
      <a:srgbClr val="C32D2E"/>
    </a:accent3>
    <a:accent4>
      <a:srgbClr val="84AA33"/>
    </a:accent4>
    <a:accent5>
      <a:srgbClr val="964305"/>
    </a:accent5>
    <a:accent6>
      <a:srgbClr val="475A8D"/>
    </a:accent6>
    <a:hlink>
      <a:srgbClr val="8DC765"/>
    </a:hlink>
    <a:folHlink>
      <a:srgbClr val="AA8A1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1358</TotalTime>
  <Words>329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Solstice</vt:lpstr>
      <vt:lpstr>    Satellite Communication Course: MHOMCC-8  </vt:lpstr>
      <vt:lpstr>Introduction</vt:lpstr>
      <vt:lpstr>Working principle of satellite</vt:lpstr>
      <vt:lpstr>Early Satellites  </vt:lpstr>
      <vt:lpstr>Types of Satellites</vt:lpstr>
      <vt:lpstr>Advantages</vt:lpstr>
      <vt:lpstr>Disadvantages</vt:lpstr>
      <vt:lpstr>Application of satellite communication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intel</dc:creator>
  <cp:lastModifiedBy>Vijay Kumar</cp:lastModifiedBy>
  <cp:revision>1066</cp:revision>
  <dcterms:created xsi:type="dcterms:W3CDTF">2015-01-17T06:19:34Z</dcterms:created>
  <dcterms:modified xsi:type="dcterms:W3CDTF">2020-05-22T14:43:30Z</dcterms:modified>
</cp:coreProperties>
</file>